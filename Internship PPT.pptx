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Inter"/>
      <p:regular r:id="rId15"/>
      <p:bold r:id="rId16"/>
      <p:italic r:id="rId17"/>
      <p:boldItalic r:id="rId18"/>
    </p:embeddedFont>
    <p:embeddedFont>
      <p:font typeface="Petrona Light"/>
      <p:regular r:id="rId19"/>
      <p:bold r:id="rId20"/>
      <p:italic r:id="rId21"/>
      <p:boldItalic r:id="rId22"/>
    </p:embeddedFont>
    <p:embeddedFont>
      <p:font typeface="Petrona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CT2g+wd/tp7Yn9kk8KjHQizxo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etronaLight-bold.fntdata"/><Relationship Id="rId22" Type="http://schemas.openxmlformats.org/officeDocument/2006/relationships/font" Target="fonts/PetronaLight-boldItalic.fntdata"/><Relationship Id="rId21" Type="http://schemas.openxmlformats.org/officeDocument/2006/relationships/font" Target="fonts/PetronaLight-italic.fntdata"/><Relationship Id="rId24" Type="http://schemas.openxmlformats.org/officeDocument/2006/relationships/font" Target="fonts/Petrona-boldItalic.fntdata"/><Relationship Id="rId23" Type="http://schemas.openxmlformats.org/officeDocument/2006/relationships/font" Target="fonts/Petron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Inter-regular.fntdata"/><Relationship Id="rId14" Type="http://schemas.openxmlformats.org/officeDocument/2006/relationships/slide" Target="slides/slide10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PetronaLight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007" y="2533650"/>
            <a:ext cx="4990267" cy="316218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/>
          <p:nvPr/>
        </p:nvSpPr>
        <p:spPr>
          <a:xfrm>
            <a:off x="6280190" y="1560790"/>
            <a:ext cx="7556421" cy="2046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Petrona"/>
              <a:buNone/>
            </a:pPr>
            <a:r>
              <a:rPr b="1" i="0" lang="en-US" sz="4250" u="none" cap="none" strike="noStrik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Retail Sales Analytics Dashboard and Data Integration Project</a:t>
            </a:r>
            <a:endParaRPr b="1" i="0" sz="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280190" y="3905131"/>
            <a:ext cx="7556421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comprehensive end-to-end data analysis workflow developed during a one-month internship at EagletFly Solutions, transforming raw transactional data into meaningful business insights through SQL integration, Python analysis, and Tableau visualization.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280190" y="5398532"/>
            <a:ext cx="7556421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b="1" i="0" sz="155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b="1" i="0" sz="155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Submitted by: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Manan Sharma </a:t>
            </a:r>
            <a:endParaRPr b="0" i="0" sz="155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Roll No: 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CS-23411579</a:t>
            </a:r>
            <a:endParaRPr b="0" i="0" sz="155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Institution: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IILM University, Greater Noida, Uttar Pradesh</a:t>
            </a:r>
            <a:endParaRPr/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2666900" y="7630800"/>
            <a:ext cx="1963500" cy="5988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645438" y="724733"/>
            <a:ext cx="7853124" cy="1109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Petrona"/>
              <a:buNone/>
            </a:pPr>
            <a:r>
              <a:rPr b="1" lang="en-US" sz="34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Project Timeline: Data Analytics Internship</a:t>
            </a:r>
            <a:endParaRPr b="1"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5438" y="2075855"/>
            <a:ext cx="7853124" cy="51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During the one-month internship at EagletFly Solutions, the Retail Sales Analytics Dashboard and Data Integration Project progressed through key phases: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60570" y="2773561"/>
            <a:ext cx="22860" cy="4731187"/>
          </a:xfrm>
          <a:prstGeom prst="roundRect">
            <a:avLst>
              <a:gd fmla="val 296466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929360" y="2943582"/>
            <a:ext cx="483989" cy="22860"/>
          </a:xfrm>
          <a:prstGeom prst="roundRect">
            <a:avLst>
              <a:gd fmla="val 296466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390489" y="2773561"/>
            <a:ext cx="363022" cy="363022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438829" y="2788622"/>
            <a:ext cx="26622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etrona"/>
              <a:buNone/>
            </a:pPr>
            <a:r>
              <a:rPr b="1" lang="en-US" sz="20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546503" y="2828925"/>
            <a:ext cx="2218730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Week 1: June 1-7, 2025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45438" y="3203138"/>
            <a:ext cx="3119795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Acquisition &amp; Setup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Focused on gathering raw transactional data and setting up the necessary development environment for analysis.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730651" y="3911679"/>
            <a:ext cx="483989" cy="22860"/>
          </a:xfrm>
          <a:prstGeom prst="roundRect">
            <a:avLst>
              <a:gd fmla="val 296466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390489" y="3741658"/>
            <a:ext cx="363022" cy="363022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438829" y="3756720"/>
            <a:ext cx="26622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etrona"/>
              <a:buNone/>
            </a:pPr>
            <a:r>
              <a:rPr b="1" lang="en-US" sz="20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378768" y="3797022"/>
            <a:ext cx="2380298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Week 2: June 8-14, 2025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378768" y="4171236"/>
            <a:ext cx="3119795" cy="12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SQL Integration &amp; Cleaning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Involved integrating data using SQL queries and performing extensive data cleaning to ensure accuracy and consistency.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929360" y="4933117"/>
            <a:ext cx="483989" cy="22860"/>
          </a:xfrm>
          <a:prstGeom prst="roundRect">
            <a:avLst>
              <a:gd fmla="val 296466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390489" y="4763095"/>
            <a:ext cx="363022" cy="363022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438829" y="4778157"/>
            <a:ext cx="26622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etrona"/>
              <a:buNone/>
            </a:pPr>
            <a:r>
              <a:rPr b="1" lang="en-US" sz="20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291471" y="4818459"/>
            <a:ext cx="2473762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Week 3: June 15-21, 2025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45438" y="5192673"/>
            <a:ext cx="3119795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 Analysis &amp; EDA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Utilized Python for in-depth data analysis and Exploratory Data Analysis (EDA) to uncover patterns and insights.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730651" y="5954554"/>
            <a:ext cx="483989" cy="22860"/>
          </a:xfrm>
          <a:prstGeom prst="roundRect">
            <a:avLst>
              <a:gd fmla="val 296466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390489" y="5784532"/>
            <a:ext cx="363022" cy="363022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4438829" y="5799594"/>
            <a:ext cx="266224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etrona"/>
              <a:buNone/>
            </a:pPr>
            <a:r>
              <a:rPr b="1" lang="en-US" sz="20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378768" y="5839897"/>
            <a:ext cx="2553772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Week 4: June 22-30, 2025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5378768" y="6214110"/>
            <a:ext cx="3119795" cy="12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Tableau Dashboard Development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Culminated in the development of an interactive Tableau dashboard to visualize key business insights effectively.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8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083618" y="410647"/>
            <a:ext cx="6035159" cy="513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etrona"/>
              <a:buNone/>
            </a:pPr>
            <a:r>
              <a:rPr b="1" lang="en-US" sz="320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Project Overview and Objectives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083618" y="1147882"/>
            <a:ext cx="7949565" cy="1734979"/>
          </a:xfrm>
          <a:prstGeom prst="roundRect">
            <a:avLst>
              <a:gd fmla="val 3615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240542" y="1304806"/>
            <a:ext cx="447913" cy="447913"/>
          </a:xfrm>
          <a:prstGeom prst="roundRect">
            <a:avLst>
              <a:gd fmla="val 20412637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3653" y="1427917"/>
            <a:ext cx="201573" cy="2015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6240542" y="1902023"/>
            <a:ext cx="2053233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lang="en-US" sz="16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Data Integration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40542" y="2248257"/>
            <a:ext cx="7635716" cy="477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Upload and merge customer and transaction datasets using SQL JOIN operations to create unified analytical tables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083618" y="3032165"/>
            <a:ext cx="7949565" cy="1496139"/>
          </a:xfrm>
          <a:prstGeom prst="roundRect">
            <a:avLst>
              <a:gd fmla="val 4192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240542" y="3189089"/>
            <a:ext cx="447913" cy="447913"/>
          </a:xfrm>
          <a:prstGeom prst="roundRect">
            <a:avLst>
              <a:gd fmla="val 20412637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3653" y="3312200"/>
            <a:ext cx="201573" cy="20157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6240542" y="3786307"/>
            <a:ext cx="2053233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lang="en-US" sz="16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Data Cleaning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240542" y="4132540"/>
            <a:ext cx="7635716" cy="23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Process inconsistent, missing, and duplicate data using Python in Jupyter Notebook for accuracy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083618" y="4677608"/>
            <a:ext cx="7949565" cy="1496139"/>
          </a:xfrm>
          <a:prstGeom prst="roundRect">
            <a:avLst>
              <a:gd fmla="val 4192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240542" y="4834533"/>
            <a:ext cx="447913" cy="447913"/>
          </a:xfrm>
          <a:prstGeom prst="roundRect">
            <a:avLst>
              <a:gd fmla="val 20412637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3653" y="4957643"/>
            <a:ext cx="201573" cy="2015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6240542" y="5431750"/>
            <a:ext cx="2053233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lang="en-US" sz="16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Exploratory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240542" y="5777984"/>
            <a:ext cx="7635716" cy="23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Conduct detailed EDA to identify patterns in profitability, discounts, and customer behavior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083618" y="6323052"/>
            <a:ext cx="7949565" cy="1496139"/>
          </a:xfrm>
          <a:prstGeom prst="roundRect">
            <a:avLst>
              <a:gd fmla="val 4192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240542" y="6479977"/>
            <a:ext cx="447913" cy="447913"/>
          </a:xfrm>
          <a:prstGeom prst="roundRect">
            <a:avLst>
              <a:gd fmla="val 20412637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3653" y="6603087"/>
            <a:ext cx="201573" cy="20157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6240542" y="7077194"/>
            <a:ext cx="2190869" cy="256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lang="en-US" sz="16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Interactive Dashboards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240542" y="7423428"/>
            <a:ext cx="7635716" cy="23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dynamic Tableau visualizations for discount and profit analysis to support decision-making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2866700" y="7819200"/>
            <a:ext cx="1763700" cy="39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742236" y="510302"/>
            <a:ext cx="909518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etrona"/>
              <a:buNone/>
            </a:pPr>
            <a:r>
              <a:rPr b="1" lang="en-US" sz="400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The Challenge: Transforming Raw Data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42236" y="1612106"/>
            <a:ext cx="3062168" cy="382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2400"/>
              <a:buFont typeface="Petrona"/>
              <a:buNone/>
            </a:pPr>
            <a:r>
              <a:rPr b="1" lang="en-US" sz="2400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Problem Statement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42236" y="2180392"/>
            <a:ext cx="6346627" cy="1187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Raw transactional data often contains inconsistencies, missing values, duplicates, and unstructured patterns that make direct analysis difficult. Without proper integration and preprocessing, datasets cannot reliably support business intelligence.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42236" y="3535085"/>
            <a:ext cx="6346627" cy="29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Challenges: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42236" y="3998952"/>
            <a:ext cx="6346627" cy="29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 two separate datasets into one unified analytical table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2236" y="4360783"/>
            <a:ext cx="6346627" cy="29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 and preprocess merged data for accuracy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42236" y="4722614"/>
            <a:ext cx="6346627" cy="593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Identify meaningful trends in discount usage, store performance, and profitability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42236" y="5381387"/>
            <a:ext cx="6346627" cy="29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Present insights through interactive, interpretable dashboards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9158" y="1635323"/>
            <a:ext cx="6346627" cy="634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13895775" y="7742225"/>
            <a:ext cx="608100" cy="40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2908475" y="7981950"/>
            <a:ext cx="987300" cy="22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700207" y="481846"/>
            <a:ext cx="7663458" cy="601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Petrona"/>
              <a:buNone/>
            </a:pPr>
            <a:r>
              <a:rPr b="1" lang="en-US" sz="37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System Architecture and Workflow</a:t>
            </a:r>
            <a:endParaRPr b="1"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207" y="1433751"/>
            <a:ext cx="6614993" cy="70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875228" y="2308979"/>
            <a:ext cx="2407206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Data Acquisition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75228" y="2714863"/>
            <a:ext cx="6264950" cy="56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Import customers.csv and details.csv into SQL database for structured storage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1433751"/>
            <a:ext cx="6614993" cy="70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7490222" y="2308979"/>
            <a:ext cx="2407206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SQL Integration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490222" y="2714863"/>
            <a:ext cx="6264950" cy="56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Merge datasets using JOIN operations on InvoiceID, create MergedData VIEW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207" y="3449955"/>
            <a:ext cx="6614993" cy="70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875228" y="4325183"/>
            <a:ext cx="2407206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Python Processing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75228" y="4731068"/>
            <a:ext cx="626495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 data, handle missing values, remove duplicates, conduct EDA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3449955"/>
            <a:ext cx="6614993" cy="70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7490222" y="4325183"/>
            <a:ext cx="2407206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Tableau Visualization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490222" y="4731068"/>
            <a:ext cx="626495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Build interactive dashboards for profit and discount analysis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00207" y="5470518"/>
            <a:ext cx="13229987" cy="29408"/>
          </a:xfrm>
          <a:prstGeom prst="rect">
            <a:avLst/>
          </a:prstGeom>
          <a:solidFill>
            <a:srgbClr val="272525">
              <a:alpha val="4980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00207" y="5762387"/>
            <a:ext cx="2888575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2250"/>
              <a:buFont typeface="Petrona"/>
              <a:buNone/>
            </a:pPr>
            <a:r>
              <a:rPr b="1" lang="en-US" sz="2250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Technology Stack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00207" y="6385917"/>
            <a:ext cx="4293275" cy="1361718"/>
          </a:xfrm>
          <a:prstGeom prst="roundRect">
            <a:avLst>
              <a:gd fmla="val 5400" name="adj"/>
            </a:avLst>
          </a:prstGeom>
          <a:solidFill>
            <a:srgbClr val="FDFAF7"/>
          </a:solidFill>
          <a:ln cap="flat" cmpd="sng" w="22850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98088" y="6583799"/>
            <a:ext cx="2831306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SQL (MySQL/PostgreSQL)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98088" y="6989683"/>
            <a:ext cx="3897511" cy="56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validation, merging tables, creating analytical VIEWs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168503" y="6385917"/>
            <a:ext cx="4293275" cy="1361718"/>
          </a:xfrm>
          <a:prstGeom prst="roundRect">
            <a:avLst>
              <a:gd fmla="val 5400" name="adj"/>
            </a:avLst>
          </a:prstGeom>
          <a:solidFill>
            <a:srgbClr val="FDFAF7"/>
          </a:solidFill>
          <a:ln cap="flat" cmpd="sng" w="22850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5366385" y="6583799"/>
            <a:ext cx="2937867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Python (Jupyter Notebook)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366385" y="6989683"/>
            <a:ext cx="3897511" cy="56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Pandas, NumPy for cleaning; Matplotlib, Seaborn for visualization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636800" y="6385917"/>
            <a:ext cx="4293275" cy="1361718"/>
          </a:xfrm>
          <a:prstGeom prst="roundRect">
            <a:avLst>
              <a:gd fmla="val 5400" name="adj"/>
            </a:avLst>
          </a:prstGeom>
          <a:solidFill>
            <a:srgbClr val="FDFAF7"/>
          </a:solidFill>
          <a:ln cap="flat" cmpd="sng" w="22850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9834682" y="6583799"/>
            <a:ext cx="2407206" cy="30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Tableau Desktop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9834682" y="6989683"/>
            <a:ext cx="3897511" cy="56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Interactive dashboards with drill-down capabilities and dynamic filtering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2852650" y="7804525"/>
            <a:ext cx="1657200" cy="3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166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693182" y="2781657"/>
            <a:ext cx="8367355" cy="59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Petrona"/>
              <a:buNone/>
            </a:pPr>
            <a:r>
              <a:rPr b="1" lang="en-US" sz="37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Implementation: SQL Data Integration</a:t>
            </a:r>
            <a:endParaRPr b="1"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93182" y="3637240"/>
            <a:ext cx="13244036" cy="554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implementation began with importing two datasets into the SQL database within the </a:t>
            </a:r>
            <a:r>
              <a:rPr i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internship</a:t>
            </a: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schema. After validating data integrity, tables were merged using an inner JOIN operation on the shared InvoiceID field, integrating customer payment details with transactional attributes.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93182" y="4386739"/>
            <a:ext cx="13244036" cy="2478167"/>
          </a:xfrm>
          <a:prstGeom prst="roundRect">
            <a:avLst>
              <a:gd fmla="val 2937" name="adj"/>
            </a:avLst>
          </a:prstGeom>
          <a:solidFill>
            <a:srgbClr val="F0E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84609" y="4386739"/>
            <a:ext cx="13261181" cy="2478167"/>
          </a:xfrm>
          <a:prstGeom prst="roundRect">
            <a:avLst>
              <a:gd fmla="val 1049" name="adj"/>
            </a:avLst>
          </a:prstGeom>
          <a:solidFill>
            <a:srgbClr val="F0E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57845" y="4516636"/>
            <a:ext cx="12914709" cy="2218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Consolas"/>
              <a:buNone/>
            </a:pPr>
            <a:r>
              <a:rPr lang="en-US" sz="1350">
                <a:solidFill>
                  <a:srgbClr val="272525"/>
                </a:solidFill>
                <a:highlight>
                  <a:srgbClr val="F0EDEA"/>
                </a:highlight>
                <a:latin typeface="Consolas"/>
                <a:ea typeface="Consolas"/>
                <a:cs typeface="Consolas"/>
                <a:sym typeface="Consolas"/>
              </a:rPr>
              <a:t>SELECTc.InvoiceID, c.CustomerID, c.PaymentMethod, c.Discount, c.ProfitMargin, c.Profit,d.Date, d.StoreID, d.ProductID, d.Quantity, d.Price, d.TotalSaleFROM customers cJOIN details dON c.InvoiceID = d.InvoiceID;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93182" y="7059811"/>
            <a:ext cx="13244036" cy="554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SQL VIEW named </a:t>
            </a:r>
            <a:r>
              <a:rPr b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MergedData</a:t>
            </a: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was created to streamline repeated queries, allowing Python and Tableau to directly retrieve clean, structured, and integrated data from a single source. This approach improved accessibility, reduced redundancy, and maintained data consistency throughout the analysis pipeline.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2866575" y="7756150"/>
            <a:ext cx="1643100" cy="41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637342" y="438150"/>
            <a:ext cx="7017068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Petrona"/>
              <a:buNone/>
            </a:pPr>
            <a:r>
              <a:rPr b="1" lang="en-US" sz="34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Python Data Cleaning and Analysis</a:t>
            </a:r>
            <a:endParaRPr b="1"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37342" y="1384102"/>
            <a:ext cx="303907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Petrona"/>
              <a:buNone/>
            </a:pPr>
            <a:r>
              <a:rPr b="1" lang="en-US" sz="20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Data Preprocessing Steps</a:t>
            </a:r>
            <a:endParaRPr b="1"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37342" y="1891903"/>
            <a:ext cx="159306" cy="19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 Light"/>
              <a:buNone/>
            </a:pPr>
            <a:r>
              <a:rPr lang="en-US" sz="1250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37342" y="2139672"/>
            <a:ext cx="7170658" cy="22860"/>
          </a:xfrm>
          <a:prstGeom prst="rect">
            <a:avLst/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37342" y="2265045"/>
            <a:ext cx="21907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Duplicate Removal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37342" y="2698194"/>
            <a:ext cx="7170658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Ensured repeated invoice records didn't distort analysis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37342" y="3231713"/>
            <a:ext cx="159306" cy="19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 Light"/>
              <a:buNone/>
            </a:pPr>
            <a:r>
              <a:rPr lang="en-US" sz="1250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37342" y="3479483"/>
            <a:ext cx="7170658" cy="22860"/>
          </a:xfrm>
          <a:prstGeom prst="rect">
            <a:avLst/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37342" y="3604855"/>
            <a:ext cx="240637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Missing Value Handling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37342" y="4038005"/>
            <a:ext cx="7170658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Addressed null values using appropriate imputation strategies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37342" y="4571524"/>
            <a:ext cx="159306" cy="19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 Light"/>
              <a:buNone/>
            </a:pPr>
            <a:r>
              <a:rPr lang="en-US" sz="1250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37342" y="4819293"/>
            <a:ext cx="7170658" cy="22860"/>
          </a:xfrm>
          <a:prstGeom prst="rect">
            <a:avLst/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37342" y="4944666"/>
            <a:ext cx="21907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Data Standardization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37342" y="5377815"/>
            <a:ext cx="7170658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Converted date formats, corrected data types, normalized columns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37342" y="5911334"/>
            <a:ext cx="159306" cy="19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 Light"/>
              <a:buNone/>
            </a:pPr>
            <a:r>
              <a:rPr lang="en-US" sz="1250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37342" y="6159103"/>
            <a:ext cx="7170658" cy="22860"/>
          </a:xfrm>
          <a:prstGeom prst="rect">
            <a:avLst/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37342" y="6284476"/>
            <a:ext cx="21907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lang="en-US" sz="17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Feature Engineering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37342" y="6717625"/>
            <a:ext cx="7170658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Created derived metrics like discount contribution and profit ratios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865" y="762010"/>
            <a:ext cx="5796320" cy="579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092875" y="6873187"/>
            <a:ext cx="5796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Exploratory Data Analysis was conducted using Pandas, NumPy, Matplotlib, and Seaborn to identify trends in daily profit variations, store-wise performance, payment method behavior, and discount usage patterns.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2838725" y="7714375"/>
            <a:ext cx="1712700" cy="39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793790" y="2452092"/>
            <a:ext cx="6457474" cy="682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Petrona"/>
              <a:buNone/>
            </a:pPr>
            <a:r>
              <a:rPr b="1" lang="en-US" sz="425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Key Findings and Insights</a:t>
            </a:r>
            <a:endParaRPr b="1" sz="4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93790" y="3729514"/>
            <a:ext cx="3792974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lang="en-US" sz="21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Payment Method Performance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93790" y="4189690"/>
            <a:ext cx="4182189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Wallet payments contributed the highest profit overall. Cash payments recorded the highest discount usage. UPI transactions contributed the least profit, reflecting lower purchase amounts.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223986" y="3729514"/>
            <a:ext cx="2728913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lang="en-US" sz="21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Store-Wise Analysis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223986" y="4189690"/>
            <a:ext cx="4182308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Store_C emerged as the top-performing outlet with highest profit. Store_D showed high discount distribution. Stores A and B displayed moderate profits with room for improvement.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654302" y="3729514"/>
            <a:ext cx="2728913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lang="en-US" sz="21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Daily Trends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654302" y="4189690"/>
            <a:ext cx="4182308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Noticeable fluctuations in profit and discount usage across the month. Certain days displayed strong revenue peaks while others showed dips in customer activity.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2880500" y="7714375"/>
            <a:ext cx="1657200" cy="44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6172795" y="555069"/>
            <a:ext cx="7153632" cy="58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etrona"/>
              <a:buNone/>
            </a:pPr>
            <a:r>
              <a:rPr b="1" lang="en-US" sz="370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Tableau Dashboard Development</a:t>
            </a:r>
            <a:endParaRPr b="1"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172795" y="1402437"/>
            <a:ext cx="7771209" cy="823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final implementation stage involved creating interactive dashboards in Tableau Desktop. The cleaned dataset was imported and worksheets were built for comprehensive analytical exploration.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172795" y="2418755"/>
            <a:ext cx="7771209" cy="2033945"/>
          </a:xfrm>
          <a:prstGeom prst="roundRect">
            <a:avLst>
              <a:gd fmla="val 3544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351984" y="2597944"/>
            <a:ext cx="2823329" cy="294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Profit Analysis Dashboard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351984" y="2995732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Store-wise profit visualization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351984" y="3330178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Payment method profitability comparison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351984" y="3664625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Daily revenue trends and patterns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351984" y="3999071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Category-level breakdowns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172795" y="4624268"/>
            <a:ext cx="7771209" cy="2033945"/>
          </a:xfrm>
          <a:prstGeom prst="roundRect">
            <a:avLst>
              <a:gd fmla="val 3544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351984" y="4803458"/>
            <a:ext cx="3176230" cy="294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Discount Analysis Dashboard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351984" y="5201245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Discount distribution across stores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351984" y="5535692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Payment method discount patterns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351984" y="5870138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 segment analysis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351984" y="6204585"/>
            <a:ext cx="7412831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Day-wise discount trends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72795" y="6851213"/>
            <a:ext cx="7771209" cy="823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dashboard included filters, slicers, bar charts, line charts, and highlight tables to enable dynamic, drill-down exploration. Tableau's interactive environment allowed intuitive interpretation of complex patterns by business stakeholders.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2880500" y="7728300"/>
            <a:ext cx="1629300" cy="44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6172557" y="691039"/>
            <a:ext cx="732877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etrona"/>
              <a:buNone/>
            </a:pPr>
            <a:r>
              <a:rPr b="1" lang="en-US" sz="370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Conclusion and Future Directions</a:t>
            </a:r>
            <a:endParaRPr b="1"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172557" y="1709380"/>
            <a:ext cx="2830354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etrona"/>
              <a:buNone/>
            </a:pPr>
            <a:r>
              <a:rPr b="1" lang="en-US" sz="220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Project Outcomes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172557" y="2234565"/>
            <a:ext cx="3676650" cy="1921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internship provided complete practical experience in implementing a professional data analysis pipeline. The project successfully demonstrated how raw transactional data can be transformed into meaningful business intelligence through structured workflows.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172557" y="4309943"/>
            <a:ext cx="3676650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Achievements: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172557" y="4738688"/>
            <a:ext cx="367665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Integrated multiple datasets using SQL JOIN operations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172557" y="5347573"/>
            <a:ext cx="367665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Cleaned and preprocessed data using Python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172557" y="5956459"/>
            <a:ext cx="367665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Identified actionable patterns in profitability and discount usage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172557" y="6565344"/>
            <a:ext cx="367665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Created interactive Tableau dashboards for stakeholder communication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0275213" y="1709380"/>
            <a:ext cx="2867501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etrona"/>
              <a:buNone/>
            </a:pPr>
            <a:r>
              <a:rPr b="1" lang="en-US" sz="220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Future Enhancements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0275213" y="2347079"/>
            <a:ext cx="85725" cy="85725"/>
          </a:xfrm>
          <a:prstGeom prst="roundRect">
            <a:avLst>
              <a:gd fmla="val 533333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10532388" y="2255996"/>
            <a:ext cx="235862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Predictive Analytics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0532388" y="2722245"/>
            <a:ext cx="3419475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 machine learning to forecast sales and customer behavior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0275213" y="3705225"/>
            <a:ext cx="85725" cy="85725"/>
          </a:xfrm>
          <a:prstGeom prst="roundRect">
            <a:avLst>
              <a:gd fmla="val 533333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0532388" y="3614142"/>
            <a:ext cx="245959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Real-Time Dashboards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0532388" y="4080391"/>
            <a:ext cx="3419475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Connect Tableau to live SQL database for continuous monitoring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0275213" y="5063371"/>
            <a:ext cx="85725" cy="85725"/>
          </a:xfrm>
          <a:prstGeom prst="roundRect">
            <a:avLst>
              <a:gd fmla="val 533333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10532388" y="4972288"/>
            <a:ext cx="261377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Customer Segmentation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0532388" y="5438537"/>
            <a:ext cx="3419475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 clustering techniques to identify customer groups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0275213" y="6421517"/>
            <a:ext cx="85725" cy="85725"/>
          </a:xfrm>
          <a:prstGeom prst="roundRect">
            <a:avLst>
              <a:gd fmla="val 533333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10532388" y="6330434"/>
            <a:ext cx="274760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lang="en-US" sz="185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Automated ETL Pipelines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0532388" y="6796683"/>
            <a:ext cx="3419475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 Airflow for automated data processing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2796950" y="7700450"/>
            <a:ext cx="1740600" cy="47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2025-11-13T18:58:53Z</dcterms:created>
</cp:coreProperties>
</file>